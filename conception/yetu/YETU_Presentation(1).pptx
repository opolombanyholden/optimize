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4d48f8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4" y="27950"/>
            <a:ext cx="426731" cy="1087100"/>
          </a:xfrm>
          <a:prstGeom prst="rect">
            <a:avLst/>
          </a:prstGeom>
        </p:spPr>
      </p:pic>
      <p:pic>
        <p:nvPicPr>
          <p:cNvPr id="3" name="Image 1" descr="/tmp/rasterized-gradient-f16e2ed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62" y="307956"/>
            <a:ext cx="361576" cy="908088"/>
          </a:xfrm>
          <a:prstGeom prst="rect">
            <a:avLst/>
          </a:prstGeom>
        </p:spPr>
      </p:pic>
      <p:pic>
        <p:nvPicPr>
          <p:cNvPr id="4" name="Image 2" descr="/tmp/rasterized-gradient-43424fb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239" y="587962"/>
            <a:ext cx="296421" cy="729077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162276" y="395288"/>
            <a:ext cx="190500" cy="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4338489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176564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371826" y="395288"/>
            <a:ext cx="190500" cy="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4548039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4386114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81376" y="395288"/>
            <a:ext cx="190500" cy="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757589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95664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790926" y="395288"/>
            <a:ext cx="190500" cy="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967139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05214" y="381000"/>
            <a:ext cx="0" cy="285750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483563" y="895350"/>
            <a:ext cx="2176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YETU</a:t>
            </a:r>
            <a:endParaRPr lang="en-US" sz="5400" dirty="0"/>
          </a:p>
        </p:txBody>
      </p:sp>
      <p:sp>
        <p:nvSpPr>
          <p:cNvPr id="18" name="Text 13"/>
          <p:cNvSpPr/>
          <p:nvPr/>
        </p:nvSpPr>
        <p:spPr>
          <a:xfrm>
            <a:off x="3295779" y="1809750"/>
            <a:ext cx="25522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RÉUNIS POUR RÉUSSIR</a:t>
            </a:r>
            <a:endParaRPr lang="en-US" sz="1200" dirty="0"/>
          </a:p>
        </p:txBody>
      </p:sp>
      <p:pic>
        <p:nvPicPr>
          <p:cNvPr id="19" name="Image 3" descr="/tmp/rasterized-gradient-d9af9fb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2556421"/>
            <a:ext cx="2857500" cy="108212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046454" y="2625030"/>
            <a:ext cx="1050944" cy="944761"/>
          </a:xfrm>
          <a:prstGeom prst="rect">
            <a:avLst/>
          </a:prstGeom>
          <a:noFill/>
          <a:ln/>
        </p:spPr>
        <p:txBody>
          <a:bodyPr wrap="square" lIns="0" tIns="57150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réussissons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0" y="4362450"/>
            <a:ext cx="9144000" cy="781050"/>
          </a:xfrm>
          <a:prstGeom prst="rect">
            <a:avLst/>
          </a:prstGeom>
          <a:solidFill>
            <a:srgbClr val="0072BC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tmp/rasterized-gradient-e5de7b0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476750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5180" y="4535835"/>
            <a:ext cx="983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781050" y="4509195"/>
            <a:ext cx="5657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KINDA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781050" y="4642545"/>
            <a:ext cx="56577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600" dirty="0"/>
          </a:p>
        </p:txBody>
      </p:sp>
      <p:sp>
        <p:nvSpPr>
          <p:cNvPr id="26" name="Text 19"/>
          <p:cNvSpPr/>
          <p:nvPr/>
        </p:nvSpPr>
        <p:spPr>
          <a:xfrm>
            <a:off x="7037588" y="4509195"/>
            <a:ext cx="1725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+241 062 23 46 05 / 074 47 78 69</a:t>
            </a:r>
            <a:endParaRPr lang="en-US" sz="675" dirty="0"/>
          </a:p>
        </p:txBody>
      </p:sp>
      <p:sp>
        <p:nvSpPr>
          <p:cNvPr id="27" name="Text 20"/>
          <p:cNvSpPr/>
          <p:nvPr/>
        </p:nvSpPr>
        <p:spPr>
          <a:xfrm>
            <a:off x="7037588" y="4629150"/>
            <a:ext cx="17254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info@ktechgabon.com | www.ktechgabon.ga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44686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5775" y="335161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0525" y="335161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4825" y="344686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335161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335161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" y="344686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3425" y="335161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175" y="335161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3450" y="247650"/>
            <a:ext cx="90703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3450" y="487561"/>
            <a:ext cx="90703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RÉUNIS POUR RÉUSSIR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81000" y="822722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communication interne est un élément essentiel de la vie d'une organisation. Yetu est une solution intranet simple, fiable et efficace au service des organisations en quête de performance.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1718667"/>
            <a:ext cx="4124325" cy="1068437"/>
          </a:xfrm>
          <a:prstGeom prst="roundRect">
            <a:avLst>
              <a:gd name="adj" fmla="val 713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/tmp/rasterized-gradient-033747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71067"/>
            <a:ext cx="38100" cy="76363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52450" y="1832967"/>
            <a:ext cx="321915" cy="270421"/>
          </a:xfrm>
          <a:prstGeom prst="roundRect">
            <a:avLst>
              <a:gd name="adj" fmla="val 14089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8650" y="1861542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2965" y="1894880"/>
            <a:ext cx="16129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NUMÉRIQUE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95300" y="2312938"/>
            <a:ext cx="3973640" cy="359866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gestion de contenu avec communication simple. Plateforme de collaboration optimale avec accès aux documents et connexion entre collaborateurs. Travail à distance et coordination des calendriers.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38675" y="1718667"/>
            <a:ext cx="4124325" cy="1068437"/>
          </a:xfrm>
          <a:prstGeom prst="roundRect">
            <a:avLst>
              <a:gd name="adj" fmla="val 713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1" descr="/tmp/rasterized-gradient-9e804f9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675" y="1871067"/>
            <a:ext cx="38100" cy="76363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810125" y="1832967"/>
            <a:ext cx="321915" cy="270421"/>
          </a:xfrm>
          <a:prstGeom prst="roundRect">
            <a:avLst>
              <a:gd name="adj" fmla="val 14089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886325" y="1861542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360640" y="1894880"/>
            <a:ext cx="1929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INTRANET: GÉRER ET CENTRALISER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4752975" y="2312938"/>
            <a:ext cx="3973640" cy="359866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Emplacement centralisé de stockage pour faciliter l'accès aux données. Les informations sont rangées et partagées de manière fluide et organisée. Documents facilement téléchargeables et accessibles.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381000" y="3496121"/>
            <a:ext cx="4124325" cy="948482"/>
          </a:xfrm>
          <a:prstGeom prst="roundRect">
            <a:avLst>
              <a:gd name="adj" fmla="val 80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/tmp/rasterized-gradient-bad977d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48521"/>
            <a:ext cx="38100" cy="64368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2450" y="3610421"/>
            <a:ext cx="321915" cy="270421"/>
          </a:xfrm>
          <a:prstGeom prst="roundRect">
            <a:avLst>
              <a:gd name="adj" fmla="val 14089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28650" y="3638996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102965" y="3672334"/>
            <a:ext cx="17097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MAÎTRISER LA COMMUNICATION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495300" y="4090392"/>
            <a:ext cx="3973640" cy="239911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YETU enrichit la communication traditionnelle. Moteur de la culture d'entreprise, il suscite les échanges multidirectionnels à tous les niveaux. Communications personnalisées par utilisateur.</a:t>
            </a:r>
            <a:endParaRPr lang="en-US" sz="675" dirty="0"/>
          </a:p>
        </p:txBody>
      </p:sp>
      <p:sp>
        <p:nvSpPr>
          <p:cNvPr id="32" name="Text 27"/>
          <p:cNvSpPr/>
          <p:nvPr/>
        </p:nvSpPr>
        <p:spPr>
          <a:xfrm>
            <a:off x="4638675" y="3496121"/>
            <a:ext cx="4124325" cy="948482"/>
          </a:xfrm>
          <a:prstGeom prst="roundRect">
            <a:avLst>
              <a:gd name="adj" fmla="val 803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3" descr="/tmp/rasterized-gradient-1725a79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675" y="3648521"/>
            <a:ext cx="38100" cy="64368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810125" y="3610421"/>
            <a:ext cx="321915" cy="270421"/>
          </a:xfrm>
          <a:prstGeom prst="roundRect">
            <a:avLst>
              <a:gd name="adj" fmla="val 14089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4886325" y="3638996"/>
            <a:ext cx="1729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360640" y="3672334"/>
            <a:ext cx="1096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DE COHÉSION</a:t>
            </a:r>
            <a:endParaRPr lang="en-US" sz="825" dirty="0"/>
          </a:p>
        </p:txBody>
      </p:sp>
      <p:sp>
        <p:nvSpPr>
          <p:cNvPr id="37" name="Text 31"/>
          <p:cNvSpPr/>
          <p:nvPr/>
        </p:nvSpPr>
        <p:spPr>
          <a:xfrm>
            <a:off x="4752975" y="4090392"/>
            <a:ext cx="3973640" cy="239911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Connectez vos collaborateurs des différents départements. Chaque collaborateur crée un profil personnalisé avec compétences et projets. Discuter, échanger et collaborer.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7650"/>
            <a:ext cx="2170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ATOUTS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401050" y="3429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582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057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4875" y="3429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9650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400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8700" y="3429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347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822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pic>
        <p:nvPicPr>
          <p:cNvPr id="12" name="Image 0" descr="/tmp/rasterized-gradient-6b93f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33450"/>
            <a:ext cx="8382000" cy="1187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5325" y="12890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68479" y="136713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66850" y="1158627"/>
            <a:ext cx="72671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Fluidité du flux d'information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66850" y="1581448"/>
            <a:ext cx="72671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Accélérez la circulation de l'information au sein de votre organisation. YETU permet une diffusion instantanée des communications, des mises à jour et des documents importants à tous les niveaux hiérarchiques.</a:t>
            </a:r>
            <a:endParaRPr lang="en-US" sz="825" dirty="0"/>
          </a:p>
        </p:txBody>
      </p:sp>
      <p:pic>
        <p:nvPicPr>
          <p:cNvPr id="17" name="Image 1" descr="/tmp/rasterized-gradient-92c7b9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35250"/>
            <a:ext cx="8382000" cy="11875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5325" y="25908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68479" y="266893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66850" y="2460427"/>
            <a:ext cx="72671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 à distance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466850" y="2883247"/>
            <a:ext cx="72671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Permettez à vos équipes de travailler efficacement depuis n'importe où. Accès sécurisé aux documents, outils de collaboration en temps réel et coordination des tâches sans contrainte géographique.</a:t>
            </a:r>
            <a:endParaRPr lang="en-US" sz="825" dirty="0"/>
          </a:p>
        </p:txBody>
      </p:sp>
      <p:pic>
        <p:nvPicPr>
          <p:cNvPr id="22" name="Image 2" descr="/tmp/rasterized-gradient-ce5935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37049"/>
            <a:ext cx="8382000" cy="11875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5325" y="38926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68479" y="3970734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466850" y="3762226"/>
            <a:ext cx="72671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des coûts de gestion des documents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466850" y="4185047"/>
            <a:ext cx="72671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Diminuez considérablement les frais liés à l'impression, au stockage physique et à la recherche de documents. La dématérialisation optimise vos processus et réduit votre empreinte environnementale.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7650"/>
            <a:ext cx="2170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ATOUTS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401050" y="3429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582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057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4875" y="3429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9650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400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8700" y="3429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347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8225" y="3333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pic>
        <p:nvPicPr>
          <p:cNvPr id="12" name="Image 0" descr="/tmp/rasterized-gradient-6b0fd5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33450"/>
            <a:ext cx="8382000" cy="11875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5325" y="12890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68479" y="136713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466850" y="1158627"/>
            <a:ext cx="72671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des coûts de transfert de connaissances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66850" y="1581448"/>
            <a:ext cx="72671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Capitalisez sur le savoir-faire de votre organisation. YETU facilite la transmission des connaissances entre collaborateurs, assure la continuité lors des départs et optimise le plan de relève.</a:t>
            </a:r>
            <a:endParaRPr lang="en-US" sz="825" dirty="0"/>
          </a:p>
        </p:txBody>
      </p:sp>
      <p:pic>
        <p:nvPicPr>
          <p:cNvPr id="17" name="Image 1" descr="/tmp/rasterized-gradient-6d1a70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35250"/>
            <a:ext cx="8382000" cy="11875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5325" y="25908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68479" y="266893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466850" y="2460427"/>
            <a:ext cx="72671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des coûts informatiques et d'innovations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466850" y="2883247"/>
            <a:ext cx="72671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solution tout-en-un qui remplace plusieurs outils disparates. Réduisez vos licences logicielles, simplifiez la maintenance et bénéficiez d'une plateforme évolutive sans investissements massifs.</a:t>
            </a:r>
            <a:endParaRPr lang="en-US" sz="825" dirty="0"/>
          </a:p>
        </p:txBody>
      </p:sp>
      <p:pic>
        <p:nvPicPr>
          <p:cNvPr id="22" name="Image 2" descr="/tmp/rasterized-gradient-e722877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537049"/>
            <a:ext cx="8382000" cy="11875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5325" y="38926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868479" y="3970734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466850" y="3762226"/>
            <a:ext cx="72671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du chiffre d'affaires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466850" y="4185047"/>
            <a:ext cx="726719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équipes mieux connectées et informées sont plus productives. L'amélioration de la collaboration interne se traduit directement par une meilleure performance commerciale et une croissance durable.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7650"/>
            <a:ext cx="3219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(1/2)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8401050" y="3048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582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057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4875" y="3048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9650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400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8700" y="3048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347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822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1059359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726" y="105935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71550" y="842218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85838" y="842218"/>
            <a:ext cx="0" cy="674191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475" y="937468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COLLABORATIF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33475" y="1301204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partagée des réunions, événements et échéances. Synchronisation des calendriers entre équipes et notifications automatiques.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1000" y="1855589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3726" y="185558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1550" y="1638449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85838" y="1638449"/>
            <a:ext cx="0" cy="674191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475" y="1733699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ARCHIVES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133475" y="2097435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Conservation sécurisée des documents historiques. Classement intelligent, recherche avancée et conformité réglementaire assurée.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81000" y="2651820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3726" y="2651820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71550" y="2434679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85838" y="2434679"/>
            <a:ext cx="0" cy="674191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475" y="2529929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DOCUMENTS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33475" y="2893665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centralisé, versioning automatique et partage contrôlé. Workflows de validation et droits d'accès personnalisés par utilisateur.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1000" y="3448050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3726" y="3448050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1550" y="3230910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85838" y="3230910"/>
            <a:ext cx="0" cy="674191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3475" y="3326160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INTERNE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133475" y="3689896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Actualités, annonces et messagerie instantanée. Diffusion ciblée par département, notifications push et fil d'actualité personnalisé.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81000" y="4244280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3726" y="4244280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71550" y="4027140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85838" y="4027140"/>
            <a:ext cx="0" cy="674191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3475" y="4122390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TÂCHES ET PROJETS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133475" y="4486126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projets, attribution des tâches et tableaux de bord. Indicateurs de progression, rappels automatiques et rapports d'avancement.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7650"/>
            <a:ext cx="3219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(2/2)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8401050" y="3048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582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057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24875" y="3048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9650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4400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8700" y="304800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347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8225" y="295275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000" y="1059359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726" y="105935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71550" y="842218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85838" y="842218"/>
            <a:ext cx="0" cy="674191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475" y="937468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CONNAISSANCES INTERNES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133475" y="1301204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connaissances centralisée, FAQ et wiki d'entreprise. Capitalisation du savoir-faire et formation continue des collaborateurs.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81000" y="1855589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3726" y="185558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1550" y="1638449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85838" y="1638449"/>
            <a:ext cx="0" cy="674191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475" y="1733699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MÉDIATHÈQUE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1133475" y="2097435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Bibliothèque multimédia pour photos, vidéos et présentations. Organisation par albums, tags et recherche intuitive des contenus.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81000" y="2651820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3726" y="2651820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71550" y="2434679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85838" y="2434679"/>
            <a:ext cx="0" cy="674191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475" y="2529929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ANNUAIRE COLLABORATIF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133475" y="2893665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Répertoire complet des collaborateurs avec profils détaillés. Compétences, projets, organigramme interactif et recherche par expertise.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1000" y="3448050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3726" y="3448050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1550" y="3230910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85838" y="3230910"/>
            <a:ext cx="0" cy="674191"/>
          </a:xfrm>
          <a:prstGeom prst="line">
            <a:avLst/>
          </a:prstGeom>
          <a:noFill/>
          <a:ln w="28575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3475" y="3326160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MOYENS GÉNÉRAUX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133475" y="3689896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 de salles, véhicules et équipements. Gestion du parc matériel, demandes d'interventions et suivi des ressources partagées.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81000" y="4244280"/>
            <a:ext cx="476250" cy="239911"/>
          </a:xfrm>
          <a:prstGeom prst="roundRect">
            <a:avLst>
              <a:gd name="adj" fmla="val 3176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3726" y="4244280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71550" y="4027140"/>
            <a:ext cx="7791450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985838" y="4027140"/>
            <a:ext cx="0" cy="674191"/>
          </a:xfrm>
          <a:prstGeom prst="line">
            <a:avLst/>
          </a:prstGeom>
          <a:noFill/>
          <a:ln w="28575">
            <a:solidFill>
              <a:srgbClr val="0072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3475" y="4122390"/>
            <a:ext cx="76460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CARACTÉRISTIQUES GÉNÉRALES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133475" y="4486126"/>
            <a:ext cx="76460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responsive, sécurité renforcée et personnalisation avancée. Multi-langues, accessibilité et intégration avec outils existants.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4472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PROPOS DU CLUSTER KINDA TECHNOLOGIE</a:t>
            </a:r>
            <a:endParaRPr lang="en-US" sz="1500" dirty="0"/>
          </a:p>
        </p:txBody>
      </p:sp>
      <p:pic>
        <p:nvPicPr>
          <p:cNvPr id="3" name="Image 0" descr="/tmp/rasterized-gradient-d33155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0100" y="24765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29638" y="299145"/>
            <a:ext cx="12630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1000" y="819150"/>
            <a:ext cx="8549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numérique créé par les Start-up Gabonaises Excel Consulting, INSY, PIC et Yubile Technologie pour mutualiser ressources et compétences.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381000" y="1167705"/>
            <a:ext cx="8382000" cy="1187053"/>
          </a:xfrm>
          <a:prstGeom prst="roundRect">
            <a:avLst>
              <a:gd name="adj" fmla="val 64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00050" y="1167705"/>
            <a:ext cx="0" cy="1187053"/>
          </a:xfrm>
          <a:prstGeom prst="line">
            <a:avLst/>
          </a:prstGeom>
          <a:noFill/>
          <a:ln w="38100">
            <a:solidFill>
              <a:srgbClr val="0072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4350" y="1294507"/>
            <a:ext cx="8153400" cy="171450"/>
          </a:xfrm>
          <a:prstGeom prst="roundRect">
            <a:avLst>
              <a:gd name="adj" fmla="val 22222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0550" y="1313557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OBJECTIFS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4350" y="1656457"/>
            <a:ext cx="4019550" cy="571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Être un lead de l'économie numérique au Gabon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numériques innovantes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48200" y="1656457"/>
            <a:ext cx="4019550" cy="5715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solutions africaines d'ici 3 ans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leaders Afrique subsaharienne d'ici 10 ans</a:t>
            </a:r>
            <a:endParaRPr lang="en-US" sz="1350" dirty="0"/>
          </a:p>
        </p:txBody>
      </p:sp>
      <p:pic>
        <p:nvPicPr>
          <p:cNvPr id="12" name="Image 1" descr="/tmp/rasterized-gradient-9b376c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430959"/>
            <a:ext cx="8382000" cy="7884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250" y="2588568"/>
            <a:ext cx="8191500" cy="171450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52450" y="2607618"/>
            <a:ext cx="8199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VISION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76250" y="2950518"/>
            <a:ext cx="835533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des leaders d'Afrique subsahariens en conception de systèmes d'information d'ici 10 ans.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381000" y="3295650"/>
            <a:ext cx="8382000" cy="142875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400050" y="3295650"/>
            <a:ext cx="0" cy="142875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3390900"/>
            <a:ext cx="8153400" cy="171450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90550" y="34099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VALEURS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14350" y="3752850"/>
            <a:ext cx="401955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collaboration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franchise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communauté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648200" y="3752850"/>
            <a:ext cx="4019550" cy="876300"/>
          </a:xfrm>
          <a:prstGeom prst="rect">
            <a:avLst/>
          </a:prstGeom>
          <a:noFill/>
          <a:ln/>
        </p:spPr>
        <p:txBody>
          <a:bodyPr wrap="square" lIns="57150" tIns="0" rIns="0" bIns="0" rtlCol="0" anchor="t"/>
          <a:lstStyle/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L'accessibilité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développement durable</a:t>
            </a:r>
            <a:endParaRPr lang="en-US" sz="1350" dirty="0"/>
          </a:p>
          <a:p>
            <a:pPr algn="l" marL="57150" indent="-571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éthiques africaines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9732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CONTACTEZ-NOUS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99482" y="903982"/>
            <a:ext cx="3145036" cy="27051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0482" y="113258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04417" y="1197322"/>
            <a:ext cx="95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37664" y="1197322"/>
            <a:ext cx="194492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062 23 46 05 / 074 47 78 69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0482" y="16088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30225" y="1673572"/>
            <a:ext cx="432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4303" y="1673572"/>
            <a:ext cx="126772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Kinda Technologie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0482" y="208508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72994" y="2149822"/>
            <a:ext cx="1578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1544" y="2149822"/>
            <a:ext cx="1549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info@ktechgabon.com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0482" y="25613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72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78460" y="2626072"/>
            <a:ext cx="1467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5549" y="2626072"/>
            <a:ext cx="11406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ktechgabon.com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0482" y="303758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00016" y="3102322"/>
            <a:ext cx="10368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8347" y="3102322"/>
            <a:ext cx="187524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Libreville, Montagne Sainte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14825" y="3893939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1960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435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8175" y="3893939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295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770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525" y="3893939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105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4875" y="3893939"/>
            <a:ext cx="114300" cy="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1965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4400" y="3884414"/>
            <a:ext cx="0" cy="171450"/>
          </a:xfrm>
          <a:prstGeom prst="line">
            <a:avLst/>
          </a:prstGeom>
          <a:noFill/>
          <a:ln w="19050">
            <a:solidFill>
              <a:srgbClr val="0072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3230" y="4246364"/>
            <a:ext cx="7773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YETU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77190" y="4737795"/>
            <a:ext cx="1389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072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RÉUNIS POUR RÉUSSIR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Kinda Technologie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YETU - Réunis pour Réussir</dc:title>
  <dc:subject>PptxGenJS Presentation</dc:subject>
  <dc:creator>Kinda Technologie</dc:creator>
  <cp:lastModifiedBy>Kinda Technologie</cp:lastModifiedBy>
  <cp:revision>1</cp:revision>
  <dcterms:created xsi:type="dcterms:W3CDTF">2026-01-26T23:05:39Z</dcterms:created>
  <dcterms:modified xsi:type="dcterms:W3CDTF">2026-01-26T23:05:39Z</dcterms:modified>
</cp:coreProperties>
</file>